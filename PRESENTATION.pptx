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64" dt="2026-10-20T14:28:03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udhula Sankar" userId="d91b58edf82e1800" providerId="Windows Live" clId="Web-{00000000-0000-0000-0000-000000000000}"/>
    <pc:docChg chg="mod addSld modSld addMainMaster delMainMaster">
      <pc:chgData name="Mirudhula Sankar" userId="d91b58edf82e1800" providerId="Windows Live" clId="Web-{00000000-0000-0000-0000-000000000000}" dt="2026-10-20T14:28:03.953" v="388" actId="14100"/>
      <pc:docMkLst>
        <pc:docMk/>
      </pc:docMkLst>
      <pc:sldChg chg="modSp mod modClrScheme chgLayout">
        <pc:chgData name="Mirudhula Sankar" userId="d91b58edf82e1800" providerId="Windows Live" clId="Web-{00000000-0000-0000-0000-000000000000}" dt="2026-10-20T14:01:02.914" v="35" actId="20577"/>
        <pc:sldMkLst>
          <pc:docMk/>
          <pc:sldMk cId="109857222" sldId="256"/>
        </pc:sldMkLst>
        <pc:spChg chg="mod ord">
          <ac:chgData name="Mirudhula Sankar" userId="d91b58edf82e1800" providerId="Windows Live" clId="Web-{00000000-0000-0000-0000-000000000000}" dt="2026-10-20T14:00:38.960" v="3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irudhula Sankar" userId="d91b58edf82e1800" providerId="Windows Live" clId="Web-{00000000-0000-0000-0000-000000000000}" dt="2026-10-20T14:01:02.914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Mirudhula Sankar" userId="d91b58edf82e1800" providerId="Windows Live" clId="Web-{00000000-0000-0000-0000-000000000000}" dt="2026-10-20T14:01:32.618" v="45" actId="20577"/>
        <pc:sldMkLst>
          <pc:docMk/>
          <pc:sldMk cId="2383362276" sldId="257"/>
        </pc:sldMkLst>
        <pc:spChg chg="mod">
          <ac:chgData name="Mirudhula Sankar" userId="d91b58edf82e1800" providerId="Windows Live" clId="Web-{00000000-0000-0000-0000-000000000000}" dt="2026-10-20T14:01:22.415" v="43" actId="20577"/>
          <ac:spMkLst>
            <pc:docMk/>
            <pc:sldMk cId="2383362276" sldId="257"/>
            <ac:spMk id="2" creationId="{2EBD0314-C941-3105-E6F3-8C5CC970168C}"/>
          </ac:spMkLst>
        </pc:spChg>
        <pc:spChg chg="mod">
          <ac:chgData name="Mirudhula Sankar" userId="d91b58edf82e1800" providerId="Windows Live" clId="Web-{00000000-0000-0000-0000-000000000000}" dt="2026-10-20T14:01:32.618" v="45" actId="20577"/>
          <ac:spMkLst>
            <pc:docMk/>
            <pc:sldMk cId="2383362276" sldId="257"/>
            <ac:spMk id="3" creationId="{45997A4B-3A32-969C-753B-894D6448CA15}"/>
          </ac:spMkLst>
        </pc:spChg>
      </pc:sldChg>
      <pc:sldChg chg="modSp new">
        <pc:chgData name="Mirudhula Sankar" userId="d91b58edf82e1800" providerId="Windows Live" clId="Web-{00000000-0000-0000-0000-000000000000}" dt="2026-10-20T14:02:35.152" v="48" actId="20577"/>
        <pc:sldMkLst>
          <pc:docMk/>
          <pc:sldMk cId="957229544" sldId="258"/>
        </pc:sldMkLst>
        <pc:spChg chg="mod">
          <ac:chgData name="Mirudhula Sankar" userId="d91b58edf82e1800" providerId="Windows Live" clId="Web-{00000000-0000-0000-0000-000000000000}" dt="2026-10-20T14:02:16.823" v="47" actId="20577"/>
          <ac:spMkLst>
            <pc:docMk/>
            <pc:sldMk cId="957229544" sldId="258"/>
            <ac:spMk id="2" creationId="{D10A2575-1F6D-B521-54E7-19F9F4269760}"/>
          </ac:spMkLst>
        </pc:spChg>
        <pc:spChg chg="mod">
          <ac:chgData name="Mirudhula Sankar" userId="d91b58edf82e1800" providerId="Windows Live" clId="Web-{00000000-0000-0000-0000-000000000000}" dt="2026-10-20T14:02:35.152" v="48" actId="20577"/>
          <ac:spMkLst>
            <pc:docMk/>
            <pc:sldMk cId="957229544" sldId="258"/>
            <ac:spMk id="3" creationId="{3C01ABBD-272A-1148-AE85-C802B18C9E05}"/>
          </ac:spMkLst>
        </pc:spChg>
      </pc:sldChg>
      <pc:sldChg chg="modSp new">
        <pc:chgData name="Mirudhula Sankar" userId="d91b58edf82e1800" providerId="Windows Live" clId="Web-{00000000-0000-0000-0000-000000000000}" dt="2026-10-20T14:07:29.552" v="121" actId="20577"/>
        <pc:sldMkLst>
          <pc:docMk/>
          <pc:sldMk cId="4219916759" sldId="259"/>
        </pc:sldMkLst>
        <pc:spChg chg="mod">
          <ac:chgData name="Mirudhula Sankar" userId="d91b58edf82e1800" providerId="Windows Live" clId="Web-{00000000-0000-0000-0000-000000000000}" dt="2026-10-20T14:02:59.496" v="50" actId="20577"/>
          <ac:spMkLst>
            <pc:docMk/>
            <pc:sldMk cId="4219916759" sldId="259"/>
            <ac:spMk id="2" creationId="{D4B9297F-7B4D-3E3A-242B-A02A7D0582D1}"/>
          </ac:spMkLst>
        </pc:spChg>
        <pc:spChg chg="mod">
          <ac:chgData name="Mirudhula Sankar" userId="d91b58edf82e1800" providerId="Windows Live" clId="Web-{00000000-0000-0000-0000-000000000000}" dt="2026-10-20T14:07:29.552" v="121" actId="20577"/>
          <ac:spMkLst>
            <pc:docMk/>
            <pc:sldMk cId="4219916759" sldId="259"/>
            <ac:spMk id="3" creationId="{92A01841-E28C-FF23-14BA-C45C84254950}"/>
          </ac:spMkLst>
        </pc:spChg>
      </pc:sldChg>
      <pc:sldChg chg="modSp new">
        <pc:chgData name="Mirudhula Sankar" userId="d91b58edf82e1800" providerId="Windows Live" clId="Web-{00000000-0000-0000-0000-000000000000}" dt="2026-10-20T14:21:21.408" v="318" actId="20577"/>
        <pc:sldMkLst>
          <pc:docMk/>
          <pc:sldMk cId="1232112880" sldId="260"/>
        </pc:sldMkLst>
        <pc:spChg chg="mod">
          <ac:chgData name="Mirudhula Sankar" userId="d91b58edf82e1800" providerId="Windows Live" clId="Web-{00000000-0000-0000-0000-000000000000}" dt="2026-10-20T14:19:51.358" v="298" actId="14100"/>
          <ac:spMkLst>
            <pc:docMk/>
            <pc:sldMk cId="1232112880" sldId="260"/>
            <ac:spMk id="2" creationId="{729557B2-54A8-B026-8126-3A298FD7B9A2}"/>
          </ac:spMkLst>
        </pc:spChg>
        <pc:spChg chg="mod">
          <ac:chgData name="Mirudhula Sankar" userId="d91b58edf82e1800" providerId="Windows Live" clId="Web-{00000000-0000-0000-0000-000000000000}" dt="2026-10-20T14:21:21.408" v="318" actId="20577"/>
          <ac:spMkLst>
            <pc:docMk/>
            <pc:sldMk cId="1232112880" sldId="260"/>
            <ac:spMk id="3" creationId="{84D40D24-832A-0C10-F0FD-259D7D77FEC8}"/>
          </ac:spMkLst>
        </pc:spChg>
      </pc:sldChg>
      <pc:sldChg chg="modSp new">
        <pc:chgData name="Mirudhula Sankar" userId="d91b58edf82e1800" providerId="Windows Live" clId="Web-{00000000-0000-0000-0000-000000000000}" dt="2026-10-20T14:22:23.363" v="324" actId="20577"/>
        <pc:sldMkLst>
          <pc:docMk/>
          <pc:sldMk cId="2645603372" sldId="261"/>
        </pc:sldMkLst>
        <pc:spChg chg="mod">
          <ac:chgData name="Mirudhula Sankar" userId="d91b58edf82e1800" providerId="Windows Live" clId="Web-{00000000-0000-0000-0000-000000000000}" dt="2026-10-20T14:21:51.081" v="320" actId="20577"/>
          <ac:spMkLst>
            <pc:docMk/>
            <pc:sldMk cId="2645603372" sldId="261"/>
            <ac:spMk id="2" creationId="{F05BA63B-907B-23D6-986E-5EC2A9EA0B2D}"/>
          </ac:spMkLst>
        </pc:spChg>
        <pc:spChg chg="mod">
          <ac:chgData name="Mirudhula Sankar" userId="d91b58edf82e1800" providerId="Windows Live" clId="Web-{00000000-0000-0000-0000-000000000000}" dt="2026-10-20T14:22:23.363" v="324" actId="20577"/>
          <ac:spMkLst>
            <pc:docMk/>
            <pc:sldMk cId="2645603372" sldId="261"/>
            <ac:spMk id="3" creationId="{C091B0D8-3318-0D16-E4C9-CBA3503618C9}"/>
          </ac:spMkLst>
        </pc:spChg>
      </pc:sldChg>
      <pc:sldChg chg="modSp new">
        <pc:chgData name="Mirudhula Sankar" userId="d91b58edf82e1800" providerId="Windows Live" clId="Web-{00000000-0000-0000-0000-000000000000}" dt="2026-10-20T14:28:03.953" v="388" actId="14100"/>
        <pc:sldMkLst>
          <pc:docMk/>
          <pc:sldMk cId="3899687273" sldId="262"/>
        </pc:sldMkLst>
        <pc:spChg chg="mod">
          <ac:chgData name="Mirudhula Sankar" userId="d91b58edf82e1800" providerId="Windows Live" clId="Web-{00000000-0000-0000-0000-000000000000}" dt="2026-10-20T14:22:35.770" v="325" actId="20577"/>
          <ac:spMkLst>
            <pc:docMk/>
            <pc:sldMk cId="3899687273" sldId="262"/>
            <ac:spMk id="2" creationId="{D554F0FF-ECFA-0735-0627-1723A150016A}"/>
          </ac:spMkLst>
        </pc:spChg>
        <pc:spChg chg="mod">
          <ac:chgData name="Mirudhula Sankar" userId="d91b58edf82e1800" providerId="Windows Live" clId="Web-{00000000-0000-0000-0000-000000000000}" dt="2026-10-20T14:28:03.953" v="388" actId="14100"/>
          <ac:spMkLst>
            <pc:docMk/>
            <pc:sldMk cId="3899687273" sldId="262"/>
            <ac:spMk id="3" creationId="{F5EA119F-8B42-2B07-7F81-D17EB5350391}"/>
          </ac:spMkLst>
        </pc:spChg>
      </pc:sldChg>
      <pc:sldChg chg="modSp new">
        <pc:chgData name="Mirudhula Sankar" userId="d91b58edf82e1800" providerId="Windows Live" clId="Web-{00000000-0000-0000-0000-000000000000}" dt="2026-10-20T14:27:58.984" v="387" actId="20577"/>
        <pc:sldMkLst>
          <pc:docMk/>
          <pc:sldMk cId="1993080427" sldId="263"/>
        </pc:sldMkLst>
        <pc:spChg chg="mod">
          <ac:chgData name="Mirudhula Sankar" userId="d91b58edf82e1800" providerId="Windows Live" clId="Web-{00000000-0000-0000-0000-000000000000}" dt="2026-10-20T14:24:46.103" v="355" actId="20577"/>
          <ac:spMkLst>
            <pc:docMk/>
            <pc:sldMk cId="1993080427" sldId="263"/>
            <ac:spMk id="2" creationId="{13FBDEB9-6DAF-002D-0493-8F6D526624C4}"/>
          </ac:spMkLst>
        </pc:spChg>
        <pc:spChg chg="mod">
          <ac:chgData name="Mirudhula Sankar" userId="d91b58edf82e1800" providerId="Windows Live" clId="Web-{00000000-0000-0000-0000-000000000000}" dt="2026-10-20T14:27:58.984" v="387" actId="20577"/>
          <ac:spMkLst>
            <pc:docMk/>
            <pc:sldMk cId="1993080427" sldId="263"/>
            <ac:spMk id="3" creationId="{2B281C2E-1B45-7A74-D902-9C339C02CD63}"/>
          </ac:spMkLst>
        </pc:spChg>
      </pc:sldChg>
      <pc:sldChg chg="modSp new">
        <pc:chgData name="Mirudhula Sankar" userId="d91b58edf82e1800" providerId="Windows Live" clId="Web-{00000000-0000-0000-0000-000000000000}" dt="2026-10-20T14:25:58.339" v="364" actId="20577"/>
        <pc:sldMkLst>
          <pc:docMk/>
          <pc:sldMk cId="440159715" sldId="264"/>
        </pc:sldMkLst>
        <pc:spChg chg="mod">
          <ac:chgData name="Mirudhula Sankar" userId="d91b58edf82e1800" providerId="Windows Live" clId="Web-{00000000-0000-0000-0000-000000000000}" dt="2026-10-20T14:25:50.198" v="363" actId="20577"/>
          <ac:spMkLst>
            <pc:docMk/>
            <pc:sldMk cId="440159715" sldId="264"/>
            <ac:spMk id="2" creationId="{C3202C65-B0FB-DB34-0832-EB45810A4910}"/>
          </ac:spMkLst>
        </pc:spChg>
        <pc:spChg chg="mod">
          <ac:chgData name="Mirudhula Sankar" userId="d91b58edf82e1800" providerId="Windows Live" clId="Web-{00000000-0000-0000-0000-000000000000}" dt="2026-10-20T14:25:58.339" v="364" actId="20577"/>
          <ac:spMkLst>
            <pc:docMk/>
            <pc:sldMk cId="440159715" sldId="264"/>
            <ac:spMk id="3" creationId="{8A7EF95C-0015-0C4C-9F81-33E821B33AA7}"/>
          </ac:spMkLst>
        </pc:spChg>
      </pc:sldChg>
      <pc:sldChg chg="modSp new">
        <pc:chgData name="Mirudhula Sankar" userId="d91b58edf82e1800" providerId="Windows Live" clId="Web-{00000000-0000-0000-0000-000000000000}" dt="2026-10-20T14:27:47.515" v="386" actId="14100"/>
        <pc:sldMkLst>
          <pc:docMk/>
          <pc:sldMk cId="1040199892" sldId="265"/>
        </pc:sldMkLst>
        <pc:spChg chg="mod">
          <ac:chgData name="Mirudhula Sankar" userId="d91b58edf82e1800" providerId="Windows Live" clId="Web-{00000000-0000-0000-0000-000000000000}" dt="2026-10-20T14:27:44.655" v="385" actId="1076"/>
          <ac:spMkLst>
            <pc:docMk/>
            <pc:sldMk cId="1040199892" sldId="265"/>
            <ac:spMk id="2" creationId="{871BBF59-E9C5-183D-7806-E8CDA175A960}"/>
          </ac:spMkLst>
        </pc:spChg>
        <pc:spChg chg="mod">
          <ac:chgData name="Mirudhula Sankar" userId="d91b58edf82e1800" providerId="Windows Live" clId="Web-{00000000-0000-0000-0000-000000000000}" dt="2026-10-20T14:27:47.515" v="386" actId="14100"/>
          <ac:spMkLst>
            <pc:docMk/>
            <pc:sldMk cId="1040199892" sldId="265"/>
            <ac:spMk id="3" creationId="{17AEA6CF-C6E3-8D70-A5C7-7B23A8371769}"/>
          </ac:spMkLst>
        </pc:spChg>
      </pc:sldChg>
      <pc:sldMasterChg chg="del delSldLayout">
        <pc:chgData name="Mirudhula Sankar" userId="d91b58edf82e1800" providerId="Windows Live" clId="Web-{00000000-0000-0000-0000-000000000000}" dt="2026-10-20T14:00:04.787" v="0"/>
        <pc:sldMasterMkLst>
          <pc:docMk/>
          <pc:sldMasterMk cId="2460954070" sldId="2147483660"/>
        </pc:sldMasterMkLst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Mirudhula Sankar" userId="d91b58edf82e1800" providerId="Windows Live" clId="Web-{00000000-0000-0000-0000-000000000000}" dt="2026-10-20T14:00:04.787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Mirudhula Sankar" userId="d91b58edf82e1800" providerId="Windows Live" clId="Web-{00000000-0000-0000-0000-000000000000}" dt="2026-10-20T14:00:04.787" v="0"/>
        <pc:sldMasterMkLst>
          <pc:docMk/>
          <pc:sldMasterMk cId="3695349214" sldId="2147483672"/>
        </pc:sldMasterMkLst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2799454463" sldId="2147483673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416537132" sldId="2147483674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801625482" sldId="2147483675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2592119132" sldId="2147483676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437529321" sldId="2147483677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3051410653" sldId="2147483678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3822105708" sldId="2147483679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2471643308" sldId="2147483680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2796588247" sldId="2147483681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615736668" sldId="2147483682"/>
          </pc:sldLayoutMkLst>
        </pc:sldLayoutChg>
        <pc:sldLayoutChg chg="add mod replId">
          <pc:chgData name="Mirudhula Sankar" userId="d91b58edf82e1800" providerId="Windows Live" clId="Web-{00000000-0000-0000-0000-000000000000}" dt="2026-10-20T14:00:04.787" v="0"/>
          <pc:sldLayoutMkLst>
            <pc:docMk/>
            <pc:sldMasterMk cId="3695349214" sldId="2147483672"/>
            <pc:sldLayoutMk cId="1195916355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45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62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11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52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41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0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64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58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73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91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34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GlucoTwin</a:t>
            </a:r>
            <a:r>
              <a:rPr lang="en-GB" dirty="0"/>
              <a:t> AI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Team members : </a:t>
            </a:r>
            <a:r>
              <a:rPr lang="en-GB" dirty="0" err="1"/>
              <a:t>keerthana</a:t>
            </a:r>
            <a:r>
              <a:rPr lang="en-GB" dirty="0"/>
              <a:t> p</a:t>
            </a:r>
          </a:p>
          <a:p>
            <a:r>
              <a:rPr lang="en-GB" dirty="0"/>
              <a:t>                              </a:t>
            </a:r>
            <a:r>
              <a:rPr lang="en-GB" err="1"/>
              <a:t>Mirudhula</a:t>
            </a:r>
            <a:r>
              <a:rPr lang="en-GB" dirty="0"/>
              <a:t> s 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0314-C941-3105-E6F3-8C5CC970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&amp;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7A4B-3A32-969C-753B-894D6448C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Title: </a:t>
            </a:r>
            <a:r>
              <a:rPr lang="en-US" dirty="0" err="1"/>
              <a:t>GlucoTwin</a:t>
            </a:r>
            <a:r>
              <a:rPr lang="en-US" dirty="0"/>
              <a:t> AI: Continuous In Silico Digital Twin for Prospective 2-Hour Glycemic Excursion Risk </a:t>
            </a:r>
          </a:p>
          <a:p>
            <a:endParaRPr lang="en-US"/>
          </a:p>
          <a:p>
            <a:r>
              <a:rPr lang="en-US"/>
              <a:t>Subtitle: Fusing Electronic Health Records with Multimodal Wearable Telemetry for Counterfactual What-If Exploration </a:t>
            </a:r>
          </a:p>
          <a:p>
            <a:endParaRPr lang="en-US"/>
          </a:p>
          <a:p>
            <a:r>
              <a:rPr lang="en-US"/>
              <a:t>Team / Lead: Lead Full-Stack &amp; ML Engineering Team </a:t>
            </a:r>
          </a:p>
          <a:p>
            <a:endParaRPr lang="en-US"/>
          </a:p>
          <a:p>
            <a:r>
              <a:rPr lang="en-US"/>
              <a:t>Tagline: Moving from Reactive Glucose Monitoring to Prospective Counterfactual Digital Twin Simulation. </a:t>
            </a:r>
          </a:p>
          <a:p>
            <a:endParaRPr lang="en-US"/>
          </a:p>
          <a:p>
            <a:r>
              <a:rPr lang="en-US"/>
              <a:t>Mandatory Research Disclaimer: Research Proof-of-Concept Prototype. All clinical profiles and telemetry are synthetically generated for the Digital Twin Challenge 2026. Not a medical device.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268D-A1FF-1C0C-AA00-BC046339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90F1-FCE9-473D-B8C7-5C2678E191FB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EBDA8-6C7D-D917-E6EB-1F5D26BB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98C8F-1008-8AD3-FB78-9514C16C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36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2575-1F6D-B521-54E7-19F9F426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Clinical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1ABBD-272A-1148-AE85-C802B18C9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CGM is Reactive, Not Prospective: Modern Continuous Glucose Monitors alert patients after glucose is already crossing out-of-range thresholds, leaving a narrow, stressful window for intervention.</a:t>
            </a:r>
          </a:p>
          <a:p>
            <a:r>
              <a:rPr lang="en-US"/>
              <a:t>Multimodal Telemetry is Siloed: Electronic Health Records (longitudinal disease history, HbA1c, baseline insulin/metformin) are detached from continuous smart watch telemetry (heart rate, physical activity steps, sleep stages).</a:t>
            </a:r>
          </a:p>
          <a:p>
            <a:r>
              <a:rPr lang="en-US"/>
              <a:t>The "What-If" Blindspot: Patients and clinicians routinely ask: "If I take a 25-minute brisk walk after lunch, or if I eat this 60g meal now, how does my prospective risk change?" Existing tools cannot model alternative hypothetical futures in silico.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10E54-818B-9ADD-CEEF-F10DEC5D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337B-E44E-4B25-9E85-005E0BE235F0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1EAC6-C019-03FE-54A0-55BF111C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A16EA-5D30-0EAB-2111-5C750FC9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22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297F-7B4D-3E3A-242B-A02A7D058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 - </a:t>
            </a:r>
            <a:r>
              <a:rPr lang="en-US" dirty="0" err="1"/>
              <a:t>GlucoTwin</a:t>
            </a:r>
            <a:r>
              <a:rPr lang="en-US" dirty="0"/>
              <a:t>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01841-E28C-FF23-14BA-C45C842549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Multimodal State Fusion: Combines patient static EHR vectors (HbA1c, diabetes duration, BMI) with continuous 5-minute dynamic streams (CGM, heart rate, step accumulation, sleep architecture).</a:t>
            </a:r>
          </a:p>
          <a:p>
            <a:r>
              <a:rPr lang="en-US"/>
              <a:t>Precise 2-Hour Excursion Horizon: Predicts prospective crossing of documented high-glucose threshold (≥180.0mg/dL) over the next 120 minutes (t→t+120m).</a:t>
            </a:r>
            <a:endParaRPr lang="en-US" dirty="0"/>
          </a:p>
          <a:p>
            <a:r>
              <a:rPr lang="en-US" dirty="0"/>
              <a:t>The Core Differentiator - What-If Lab: In silico counterfactual engine allowing clinicians to modulate activity, meal boluses, and sleep quality, producing instant side-by-side risk differentials (</a:t>
            </a:r>
            <a:r>
              <a:rPr lang="en-US" dirty="0" err="1"/>
              <a:t>ΔRisk</a:t>
            </a:r>
            <a:r>
              <a:rPr lang="en-US" dirty="0"/>
              <a:t>) and comparative projected corridors.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85EDF-0A1A-DEA4-C7DA-F3BAE7A7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E802-C7C9-400D-B304-B73D199015BF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7E1DE-957E-4283-6D7C-59DE5E11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07858-2247-93AC-44B1-F1092164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91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57B2-54A8-B026-8126-3A298FD7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268" y="588245"/>
            <a:ext cx="10449784" cy="463288"/>
          </a:xfrm>
        </p:spPr>
        <p:txBody>
          <a:bodyPr>
            <a:normAutofit fontScale="90000"/>
          </a:bodyPr>
          <a:lstStyle/>
          <a:p>
            <a:r>
              <a:rPr lang="en-US"/>
              <a:t>Machine Learning Rigor &amp; Zero Data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40D24-832A-0C10-F0FD-259D7D77F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324864"/>
            <a:ext cx="10442448" cy="4736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Causal Feature Engineering: Feature vectors strictly isolate backwards-looking sliding windows (0 future lookahead, strict causal isolation).</a:t>
            </a:r>
          </a:p>
          <a:p>
            <a:r>
              <a:rPr lang="en-US"/>
              <a:t>Patient-Grouped Held-Out Partitioning: </a:t>
            </a:r>
            <a:endParaRPr lang="en-US">
              <a:solidFill>
                <a:srgbClr val="000000"/>
              </a:solidFill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12 synthetic patients generated with distinct phenotypes (Brittle T1D, Insulin-Resistant T2D, Athletic T1D, Shift Worker). 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Model trained on 10 cohort patients (19,920 samples). </a:t>
            </a:r>
            <a:endParaRPr lang="en-US">
              <a:solidFill>
                <a:srgbClr val="000000"/>
              </a:solidFill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Evaluated on strictly unseen held-out patients PT-103 (Athletic T1D) and PT-104 (Shift Worker T2D) (3,984 samples). </a:t>
            </a:r>
            <a:endParaRPr lang="en-US">
              <a:solidFill>
                <a:srgbClr val="000000"/>
              </a:solidFill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Zero patient overlap ensures real-world phenotypic generalization. </a:t>
            </a:r>
            <a:endParaRPr lang="en-US">
              <a:solidFill>
                <a:srgbClr val="000000"/>
              </a:solidFill>
            </a:endParaRPr>
          </a:p>
          <a:p>
            <a:r>
              <a:rPr lang="en-US"/>
              <a:t>Empirical Held-Out Validation Performance: </a:t>
            </a:r>
            <a:endParaRPr lang="en-US">
              <a:solidFill>
                <a:srgbClr val="35403A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ROC-AUC: 0.9529 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Precision: 0.9311 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Recall: 0.7184 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F1 Score: 0.8110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Brier Calibration Score: 0.0475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No fabricated metrics, fully reproducible pipeline. 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2BE14-3DAC-8358-E4C6-FCA2D289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742E0-EB71-4CC7-ACB5-5A4EE0A5BE89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00184-C244-B3F8-47AE-851826976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54897-EE4A-A04E-8008-293E0DD8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11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BA63B-907B-23D6-986E-5EC2A9EA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Clinician Command Center Demo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B0D8-3318-0D16-E4C9-CBA350361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2-Hour Prospective Corridor: Displays projected median path and 80% confidence interval band.</a:t>
            </a:r>
          </a:p>
          <a:p>
            <a:r>
              <a:rPr lang="en-US"/>
              <a:t>Risk Score Gauge: Animated meter classifying risk into Low (&lt;20%), Moderate (20-50%), High (50-80%), or Critical (&gt;80%).</a:t>
            </a:r>
          </a:p>
          <a:p>
            <a:r>
              <a:rPr lang="en-US"/>
              <a:t>Interactive Time Machine: Step forward +5m, +15m, +30m or toggle continuous auto-simulation to observe twin dynamics in real time.</a:t>
            </a:r>
          </a:p>
          <a:p>
            <a:r>
              <a:rPr lang="en-US" dirty="0"/>
              <a:t>Live Telemetry Stream: Interactive Recharts display of 6–</a:t>
            </a:r>
            <a:r>
              <a:rPr lang="en-US" dirty="0" err="1"/>
              <a:t>12 hour</a:t>
            </a:r>
            <a:r>
              <a:rPr lang="en-US" dirty="0"/>
              <a:t> continuous CGM with reference target corridor (70–180 mg/dL) and high-threshold line.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485B0-6F22-84CC-6A44-81B1359F0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AA152-F8E0-4EAF-8BA9-D303B533BCD0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D4E73-CDE2-0E35-9A13-FE285644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517C7-22A8-36E0-4274-476CB2F4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60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F0FF-ECFA-0735-0627-1723A150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What-If Counterfactual Laboratory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A119F-8B42-2B07-7F81-D17EB5350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64" y="1853184"/>
            <a:ext cx="10442448" cy="4208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 Silico Scenario Modeling:</a:t>
            </a:r>
            <a:endParaRPr lang="en-US" dirty="0"/>
          </a:p>
          <a:p>
            <a:pPr>
              <a:buFont typeface="Courier New" panose="020B0604020202020204" pitchFamily="34" charset="0"/>
              <a:buChar char="o"/>
            </a:pPr>
            <a:r>
              <a:rPr lang="en-US"/>
              <a:t>Activity: Sedentary vs Light Walk (20m) vs Brisk Cardio (30m) vs HIIT (45m).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Nutrition: Fasting (0g) vs Snack (20g) vs Standard Meal (50g) vs High-Carb (85g).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Circadian / Sleep: Restorative 8h sleep vs Sleep Debt (4h, Cortisol rise) vs Shift Disruption.</a:t>
            </a:r>
            <a:endParaRPr lang="en-US" sz="1600" dirty="0"/>
          </a:p>
          <a:p>
            <a:r>
              <a:rPr lang="en-US"/>
              <a:t>Clear Comparative Metrics:</a:t>
            </a:r>
            <a:endParaRPr lang="en-US" dirty="0"/>
          </a:p>
          <a:p>
            <a:pPr>
              <a:buFont typeface="Courier New" panose="020B0604020202020204" pitchFamily="34" charset="0"/>
              <a:buChar char="o"/>
            </a:pPr>
            <a:r>
              <a:rPr lang="en-US" dirty="0"/>
              <a:t>Baseline Risk (e.g. 74%) vs Scenario Risk (e.g. 46%).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Absolute Risk Difference (Δ Risk): -28% Absolute Risk Reduction.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Counterfactual trajectory overlay plotted directly onto the CGM chart.</a:t>
            </a:r>
            <a:endParaRPr lang="en-US" sz="1600" dirty="0"/>
          </a:p>
          <a:p>
            <a:r>
              <a:rPr lang="en-US"/>
              <a:t>Safety Boundary: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Strict disclosure that counterfactuals are model-based statistical associations, not causal treatment effects. Explicit prohibition against medication adjustments.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53F52-485F-368C-C62F-D6FB9B98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577A2-2CBC-468C-8508-8FABD6B65E6A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AB968-E91C-E0C5-3D25-2BDA8E69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8ECB7-808A-77D0-0FEF-EF7549D9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68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DEB9-6DAF-002D-0493-8F6D5266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Explainability &amp; Safety Guardrails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81C2E-1B45-7A74-D902-9C339C02C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Supported Feature Attributions: Transparent tree-based gradient importances decomposing the top factors elevating or mitigating excursion risk.</a:t>
            </a:r>
            <a:endParaRPr lang="en-US" dirty="0"/>
          </a:p>
          <a:p>
            <a:r>
              <a:rPr lang="en-US"/>
              <a:t>Data Quality &amp; Anomaly Engine:</a:t>
            </a:r>
            <a:endParaRPr lang="en-US" dirty="0"/>
          </a:p>
          <a:p>
            <a:pPr>
              <a:buFont typeface="Courier New" panose="020B0604020202020204" pitchFamily="34" charset="0"/>
              <a:buChar char="o"/>
            </a:pPr>
            <a:r>
              <a:rPr lang="en-US"/>
              <a:t>Detects stale telemetry (&gt;15 min lag), sensor dropouts, out-of-range sensor spikes, and pressure compression artifacts during sleep.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Automatically attenuates model confidence score when telemetry degrades.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Interactive fault injection controls allow clinicians to test system safety triggers.</a:t>
            </a:r>
            <a:endParaRPr lang="en-US" sz="16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6E091-2D2D-D564-8674-DDFB87D0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321C-586E-42B6-BA4B-1E500160E97E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5467-364B-87BD-9F73-BED2F583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91E11-A289-A2A0-3298-7E6B8B6F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08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2C65-B0FB-DB34-0832-EB45810A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Technical Implementation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F95C-0015-0C4C-9F81-33E821B33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Frontend: React 19, TypeScript, Vite, Tailwind CSS, </a:t>
            </a:r>
            <a:r>
              <a:rPr lang="en-US" dirty="0" err="1"/>
              <a:t>Lucide</a:t>
            </a:r>
            <a:r>
              <a:rPr lang="en-US" dirty="0"/>
              <a:t> React, Recharts.</a:t>
            </a:r>
          </a:p>
          <a:p>
            <a:r>
              <a:rPr lang="en-US" dirty="0"/>
              <a:t>Backend: Python 3.13, </a:t>
            </a:r>
            <a:r>
              <a:rPr lang="en-US" dirty="0" err="1"/>
              <a:t>FastAPI</a:t>
            </a:r>
            <a:r>
              <a:rPr lang="en-US" dirty="0"/>
              <a:t>, pandas, NumPy, scikit-learn, </a:t>
            </a:r>
            <a:r>
              <a:rPr lang="en-US" dirty="0" err="1"/>
              <a:t>joblib</a:t>
            </a:r>
            <a:r>
              <a:rPr lang="en-US" dirty="0"/>
              <a:t>.</a:t>
            </a:r>
          </a:p>
          <a:p>
            <a:r>
              <a:rPr lang="en-US" dirty="0"/>
              <a:t>Testing: 15 automated </a:t>
            </a:r>
            <a:r>
              <a:rPr lang="en-US" dirty="0" err="1"/>
              <a:t>pytest</a:t>
            </a:r>
            <a:r>
              <a:rPr lang="en-US" dirty="0"/>
              <a:t> integration/unit tests + 5 </a:t>
            </a:r>
            <a:r>
              <a:rPr lang="en-US" dirty="0" err="1"/>
              <a:t>Vitest</a:t>
            </a:r>
            <a:r>
              <a:rPr lang="en-US" dirty="0"/>
              <a:t> frontend component tests.</a:t>
            </a:r>
          </a:p>
          <a:p>
            <a:r>
              <a:rPr lang="en-US"/>
              <a:t>Deployment &amp; Scripting: Standalone PowerShell automation (run_all.ps1, run_backend.ps1, run_frontend.ps1, train_model.ps1, run_tests.ps1).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AB501-30AA-DA5A-253D-377905FE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9D236-78B4-439A-986C-AF24F82C622A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70E7C-790C-0AD4-80A0-A121D9FE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A30F5-8D1B-C72A-AE6A-203C86A2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159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BF59-E9C5-183D-7806-E8CDA175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456165"/>
            <a:ext cx="10449784" cy="1265928"/>
          </a:xfrm>
        </p:spPr>
        <p:txBody>
          <a:bodyPr/>
          <a:lstStyle/>
          <a:p>
            <a:r>
              <a:rPr lang="en-US"/>
              <a:t>Summary &amp; 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A6CF-C6E3-8D70-A5C7-7B23A8371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64" y="1873504"/>
            <a:ext cx="10442448" cy="41882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Key Takeaways: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US"/>
              <a:t>Proven digital twin architecture uniting EHR and time-series telemetry.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Rigorous leak-free machine learning with out-of-patient generalization.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Actionable in silico What-If experimentation with transparent explainability.</a:t>
            </a:r>
          </a:p>
          <a:p>
            <a:r>
              <a:rPr lang="en-US"/>
              <a:t>Future Translation Steps: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Ingestion of real IRB-approved Dexcom/Abbott anonymized research datasets.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Neural ordinary differential equations (Neural ODEs) for continuous physiological modeling.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Closed-loop integration with automated insulin delivery simulators.</a:t>
            </a:r>
          </a:p>
          <a:p>
            <a:r>
              <a:rPr lang="en-US"/>
              <a:t>Closing Statement: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err="1"/>
              <a:t>GlucoTwin</a:t>
            </a:r>
            <a:r>
              <a:rPr lang="en-US" sz="1600"/>
              <a:t> AI demonstrates how patient digital twins can empower clinicians and patients with prospective foresight and safe in silico experimentation.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79042-8638-610C-7FBD-42354E9D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E4F5-60FE-448E-A05D-853CAAFE513A}" type="datetime1"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1CCF0-8728-B50F-218F-8009874B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4D08-83F0-CB31-B7AC-B5D1F4F1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199892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BohoVogueVTI</vt:lpstr>
      <vt:lpstr>GlucoTwin AI</vt:lpstr>
      <vt:lpstr>TITLE &amp; VISION</vt:lpstr>
      <vt:lpstr>The Clinical Problem</vt:lpstr>
      <vt:lpstr>The Solution - GlucoTwin AI</vt:lpstr>
      <vt:lpstr>Machine Learning Rigor &amp; Zero Data Leakage</vt:lpstr>
      <vt:lpstr>Clinician Command Center Demo </vt:lpstr>
      <vt:lpstr>The What-If Counterfactual Laboratory</vt:lpstr>
      <vt:lpstr>Explainability &amp; Safety Guardrails </vt:lpstr>
      <vt:lpstr>Technical Implementation Stack</vt:lpstr>
      <vt:lpstr>Summary &amp; Future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157</cp:revision>
  <dcterms:created xsi:type="dcterms:W3CDTF">2013-07-15T20:26:40Z</dcterms:created>
  <dcterms:modified xsi:type="dcterms:W3CDTF">2026-10-20T14:28:11Z</dcterms:modified>
</cp:coreProperties>
</file>